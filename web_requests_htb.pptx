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/home/claude/icons/network_accen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692640" y="64008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REQUÊTES WEB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E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protocole HTTP, les cookies, curl et les API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basé sur le cours Hack The Box — Web Requests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par Mitsuri (Reine-Immaculée Awissoba)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727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pic>
        <p:nvPicPr>
          <p:cNvPr id="5" name="Image 0" descr="/home/claude/icons/glob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3677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4630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protocole HTTP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5328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pic>
        <p:nvPicPr>
          <p:cNvPr id="9" name="Image 1" descr="/home/claude/icons/exchang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596896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4231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requête / réponse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383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3493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pic>
        <p:nvPicPr>
          <p:cNvPr id="13" name="Image 2" descr="/home/claude/icons/cod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55701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74520" y="33832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méthodes HTTP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43434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77240" y="44531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pic>
        <p:nvPicPr>
          <p:cNvPr id="17" name="Image 3" descr="/home/claude/icons/filecod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51713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43434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en-têtes HTTP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53035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77240" y="5413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pic>
        <p:nvPicPr>
          <p:cNvPr id="21" name="Image 4" descr="/home/claude/icons/warning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5477256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74520" y="53035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codes de statut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40080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537960" y="15727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pic>
        <p:nvPicPr>
          <p:cNvPr id="25" name="Image 5" descr="/home/claude/icons/cookie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636776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35240" y="14630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et sessions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400800" y="24231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6537960" y="25328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pic>
        <p:nvPicPr>
          <p:cNvPr id="29" name="Image 6" descr="/home/claude/icons/database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2596896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635240" y="24231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JSON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400800" y="3383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6537960" y="3493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pic>
        <p:nvPicPr>
          <p:cNvPr id="33" name="Image 7" descr="/home/claude/icons/terminal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557016"/>
            <a:ext cx="420624" cy="42062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635240" y="33832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en pratique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6400800" y="43434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6537960" y="44531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pic>
        <p:nvPicPr>
          <p:cNvPr id="37" name="Image 8" descr="/home/claude/icons/network_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517136"/>
            <a:ext cx="420624" cy="42062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635240" y="43434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&amp; CRUD</a:t>
            </a:r>
            <a:endParaRPr lang="en-US" sz="1400" dirty="0"/>
          </a:p>
        </p:txBody>
      </p:sp>
      <p:sp>
        <p:nvSpPr>
          <p:cNvPr id="39" name="Shape 28"/>
          <p:cNvSpPr/>
          <p:nvPr/>
        </p:nvSpPr>
        <p:spPr>
          <a:xfrm>
            <a:off x="6400800" y="53035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3C">
                <a:alpha val="12000"/>
              </a:srgbClr>
            </a:outerShdw>
          </a:effectLst>
        </p:spPr>
      </p:sp>
      <p:sp>
        <p:nvSpPr>
          <p:cNvPr id="40" name="Text 29"/>
          <p:cNvSpPr/>
          <p:nvPr/>
        </p:nvSpPr>
        <p:spPr>
          <a:xfrm>
            <a:off x="6537960" y="5413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pic>
        <p:nvPicPr>
          <p:cNvPr id="41" name="Image 9" descr="/home/claude/icons/shield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5477256"/>
            <a:ext cx="420624" cy="42062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635240" y="53035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sécurité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HTTP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est le protocole qui permet à un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(navigateur, curl, application mobile) de communiquer avec un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web.</a:t>
            </a:r>
            <a:endParaRPr lang="en-US" sz="1400" dirty="0"/>
          </a:p>
        </p:txBody>
      </p:sp>
      <p:pic>
        <p:nvPicPr>
          <p:cNvPr id="5" name="Image 0" descr="/home/claude/icons/che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1752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9443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selon un modèle requête / réponse</a:t>
            </a:r>
            <a:endParaRPr lang="en-US" sz="1250" dirty="0"/>
          </a:p>
        </p:txBody>
      </p:sp>
      <p:pic>
        <p:nvPicPr>
          <p:cNvPr id="7" name="Image 1" descr="/home/claude/icons/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8444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35112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sans état (stateless) — chaque requête est indépendante</a:t>
            </a:r>
            <a:endParaRPr lang="en-US" sz="1250" dirty="0"/>
          </a:p>
        </p:txBody>
      </p:sp>
      <p:pic>
        <p:nvPicPr>
          <p:cNvPr id="9" name="Image 2" descr="/home/claude/icons/che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5137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407822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 par défaut est 80 (HTTP) ou 443 (HTTPS, chiffré)</a:t>
            </a:r>
            <a:endParaRPr lang="en-US" sz="1250" dirty="0"/>
          </a:p>
        </p:txBody>
      </p:sp>
      <p:pic>
        <p:nvPicPr>
          <p:cNvPr id="11" name="Image 3" descr="/home/claude/icons/chec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18304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46451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toute application web et de toute API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400800" y="164592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D1B2A"/>
          </a:solidFill>
          <a:ln/>
        </p:spPr>
      </p:sp>
      <p:pic>
        <p:nvPicPr>
          <p:cNvPr id="14" name="Image 4" descr="/home/claude/icons/laptop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103120"/>
            <a:ext cx="1005840" cy="10058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368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pic>
        <p:nvPicPr>
          <p:cNvPr id="16" name="Image 5" descr="/home/claude/icons/server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2103120"/>
            <a:ext cx="1005840" cy="10058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8138160" y="2606040"/>
            <a:ext cx="1737360" cy="0"/>
          </a:xfrm>
          <a:prstGeom prst="line">
            <a:avLst/>
          </a:prstGeom>
          <a:noFill/>
          <a:ln w="25400">
            <a:solidFill>
              <a:srgbClr val="9FEF00"/>
            </a:solidFill>
            <a:prstDash val="dash"/>
          </a:ln>
        </p:spPr>
      </p:sp>
      <p:sp>
        <p:nvSpPr>
          <p:cNvPr id="19" name="Text 11"/>
          <p:cNvSpPr/>
          <p:nvPr/>
        </p:nvSpPr>
        <p:spPr>
          <a:xfrm>
            <a:off x="80010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E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→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8138160" y="3063240"/>
            <a:ext cx="1737360" cy="0"/>
          </a:xfrm>
          <a:prstGeom prst="line">
            <a:avLst/>
          </a:prstGeom>
          <a:noFill/>
          <a:ln w="25400">
            <a:solidFill>
              <a:srgbClr val="5A7A9B"/>
            </a:solidFill>
            <a:prstDash val="dash"/>
          </a:ln>
        </p:spPr>
      </p:sp>
      <p:sp>
        <p:nvSpPr>
          <p:cNvPr id="21" name="Text 13"/>
          <p:cNvSpPr/>
          <p:nvPr/>
        </p:nvSpPr>
        <p:spPr>
          <a:xfrm>
            <a:off x="800100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Réponse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6751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navigateur / curl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67512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Apache, Nginx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requête HTTP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/search.php HTTP/1.1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84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1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154.57.164.77:31506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1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523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1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Cookie: PHPSESSID=tecgpbbra8pkhl3lbtrd26dno5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{"search": "flag"}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4630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8432" y="1810512"/>
            <a:ext cx="256032" cy="256032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requête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0" y="1874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+ chemin + version du protocole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26517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2999232"/>
            <a:ext cx="256032" cy="256032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(headers)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: hôte, type de contenu, cookies…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46634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5010912"/>
            <a:ext cx="256032" cy="256032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(body)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5074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envoyées, souvent en JSON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réponse HTTP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984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Sun, 09 Aug 2026 16:26:31 GMT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text/html; charset=UTF-8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7523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 44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[{"city_name":"flag","country_name":"(UK)"}]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4630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8432" y="1810512"/>
            <a:ext cx="256032" cy="256032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statut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0" y="1874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code de statut + message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26517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2999232"/>
            <a:ext cx="256032" cy="256032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de réponse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contenu, taille, date, serveur…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46634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5010912"/>
            <a:ext cx="256032" cy="256032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(body)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5074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retourné : HTML, JSON, fichier…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méthodes HTTP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méthode indique l'action à effectuer sur une ressource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148840"/>
            <a:ext cx="685800" cy="68580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6" name="Image 0" descr="/home/claude/icons/searc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352044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une ressource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502920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modifier de données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71800" y="182880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2148840"/>
            <a:ext cx="685800" cy="68580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12" name="Image 1" descr="/home/claude/icons/plu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4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3017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136392" y="352044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ressource / envoyer des données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136392" y="502920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connexion, recherche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303520" y="182880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2148840"/>
            <a:ext cx="685800" cy="68580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18" name="Image 2" descr="/home/claude/icons/edi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23317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3017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468112" y="352044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une ressource existante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68112" y="502920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la ressource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635240" y="182880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366760" y="2148840"/>
            <a:ext cx="685800" cy="68580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24" name="Image 3" descr="/home/claude/icons/tras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0" y="23317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3017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799832" y="352044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ressource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799832" y="502920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suppression d'une ville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966960" y="182880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698480" y="2148840"/>
            <a:ext cx="685800" cy="68580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30" name="Image 4" descr="/home/claude/icons/filecod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233172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58400" y="3017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10131552" y="352044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partiellement une ressource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131552" y="502920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courant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en-têtes HTTP courants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échangées entre client et serveur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domaine / IP du serveur visé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du corps envoyé (ex. application/json)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39896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13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1513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corps en octets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809744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82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2212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cookies stockés au serveur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673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demande au client de stocker un cookie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670048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081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 logiciel client (navigateur, curl…)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739896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13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1513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les identifiants ou un jeton d'authentification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809744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882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Referrer Policy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522122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les infos transmises lors d'une 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codes de statut HTTP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indique le résultat de la requête via un code à 3 chiffres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627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la requête a réussi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6273B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945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3xx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301, 302 — la ressource a bougé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627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945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4xx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Found, 401 Unauthorized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6273B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1945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E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5xx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3544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serveur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0" y="37490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et gestion de session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serveur se souvient qu'un utilisateur est authentifié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/home/claude/icons/key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9933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envoie ses identifiants (username/password) au serveur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0D1B2A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1965960"/>
            <a:ext cx="502920" cy="502920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/home/claude/icons/cooki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9339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Set-Cookie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09160" y="30632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répond avec un cookie de session (ex. PHPSESSID)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321040" y="1737360"/>
            <a:ext cx="3520440" cy="2468880"/>
          </a:xfrm>
          <a:prstGeom prst="roundRect">
            <a:avLst>
              <a:gd name="adj" fmla="val 3704"/>
            </a:avLst>
          </a:prstGeom>
          <a:solidFill>
            <a:srgbClr val="0D1B2A"/>
          </a:solidFill>
          <a:ln/>
        </p:spPr>
      </p:sp>
      <p:sp>
        <p:nvSpPr>
          <p:cNvPr id="17" name="Shape 13"/>
          <p:cNvSpPr/>
          <p:nvPr/>
        </p:nvSpPr>
        <p:spPr>
          <a:xfrm>
            <a:off x="8549640" y="1965960"/>
            <a:ext cx="502920" cy="502920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8" name="Text 14"/>
          <p:cNvSpPr/>
          <p:nvPr/>
        </p:nvSpPr>
        <p:spPr>
          <a:xfrm>
            <a:off x="8549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/home/claude/icons/che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199339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4964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549640" y="30632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renvoie ce cookie à chaque requête suivante pour rester authentifié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5262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F3349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 -c cookies.txt -X POST http://IP:PORT/index.php -d "username=admin&amp;password=admin"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 -b cookies.txt -X POST http://IP:PORT/search.php -H "Content-Type: application/json" -d "{\"search\":\"flag\"}"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format JSON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 — le format standard des API modernes</a:t>
            </a:r>
            <a:endParaRPr lang="en-US" sz="1300" dirty="0"/>
          </a:p>
        </p:txBody>
      </p:sp>
      <p:pic>
        <p:nvPicPr>
          <p:cNvPr id="4" name="Image 0" descr="/home/claude/icons/che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764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données clé / valeur, lisible et légère</a:t>
            </a:r>
            <a:endParaRPr lang="en-US" sz="1250" dirty="0"/>
          </a:p>
        </p:txBody>
      </p:sp>
      <p:pic>
        <p:nvPicPr>
          <p:cNvPr id="6" name="Image 1" descr="/home/claude/icons/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87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423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pour envoyer et recevoir des données via une API</a:t>
            </a:r>
            <a:endParaRPr lang="en-US" sz="1250" dirty="0"/>
          </a:p>
        </p:txBody>
      </p:sp>
      <p:pic>
        <p:nvPicPr>
          <p:cNvPr id="8" name="Image 2" descr="/home/claude/icons/che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45536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0815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être accompagné du header Content-Type: application/json</a:t>
            </a:r>
            <a:endParaRPr lang="en-US" sz="1250" dirty="0"/>
          </a:p>
        </p:txBody>
      </p:sp>
      <p:pic>
        <p:nvPicPr>
          <p:cNvPr id="10" name="Image 3" descr="/home/claude/icons/chec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03904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7398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cmd.exe, les guillemets doivent être échappés avec \"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6400800" y="18288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0D1B2A"/>
          </a:solidFill>
          <a:ln/>
        </p:spPr>
      </p:sp>
      <p:sp>
        <p:nvSpPr>
          <p:cNvPr id="13" name="Text 7"/>
          <p:cNvSpPr/>
          <p:nvPr/>
        </p:nvSpPr>
        <p:spPr>
          <a:xfrm>
            <a:off x="6720840" y="2103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720840" y="24688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"username": "admin",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72084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"password": "admin"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720840" y="3200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720840" y="3639312"/>
            <a:ext cx="4480560" cy="0"/>
          </a:xfrm>
          <a:prstGeom prst="line">
            <a:avLst/>
          </a:prstGeom>
          <a:noFill/>
          <a:ln w="12700">
            <a:solidFill>
              <a:srgbClr val="2D415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720840" y="38587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720840" y="42245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{"city_name": "flag",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20840" y="45902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"country_name": "(UK)"}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720840" y="49560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curl en pratique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en ligne de commande pour envoyer des requêtes HTTP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 la méthode HTTP (GET, POST, PUT, DELETE…)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0779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077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6517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des données dans le corps de la requête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95935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593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un en-tête personnalisé (ex. Content-Type)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85623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8562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1600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les cookies reçus dans un fichier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6517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290779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9077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26517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cookies d'un fichier avec la requête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37033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3959352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9593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en-têtes de la réponse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pratique : login + recherche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vécu sur un exercice Hack The Box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64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Connexion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0756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 -c cookies.txt -X POST http://IP:PORT/index.php -d "username=admin&amp;password=admin"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Vérifier le cookie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1912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cookies.txt   →  PHPSESSID=tecgpbbra8pkhl3lbtrd26dno5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Recherche authentifiée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3068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7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 -b cookies.txt -X POST http://IP:PORT/search.php -H "Content-Type: application/json" -d "{\"search\":\"a\"}"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11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Résultat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4223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flag: HTB{p0$t_r3p34t3r}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et modèle CRUD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opération CRUD correspond à une méthode HTTP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103120"/>
            <a:ext cx="640080" cy="64008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6" name="Image 0" descr="/home/claude/icons/plu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22494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57300" y="3337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9FEF0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3886200"/>
            <a:ext cx="21854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nouvelle ressource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12" name="Shape 9"/>
          <p:cNvSpPr/>
          <p:nvPr/>
        </p:nvSpPr>
        <p:spPr>
          <a:xfrm>
            <a:off x="4347972" y="2103120"/>
            <a:ext cx="640080" cy="64008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13" name="Image 1" descr="/home/claude/icons/sear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2494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027932" y="3337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9FEF00"/>
          </a:solidFill>
          <a:ln/>
        </p:spPr>
      </p:sp>
      <p:sp>
        <p:nvSpPr>
          <p:cNvPr id="16" name="Text 12"/>
          <p:cNvSpPr/>
          <p:nvPr/>
        </p:nvSpPr>
        <p:spPr>
          <a:xfrm>
            <a:off x="4027932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75304" y="3886200"/>
            <a:ext cx="21854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/ lister une ressource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81344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18604" y="2103120"/>
            <a:ext cx="640080" cy="64008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20" name="Image 2" descr="/home/claude/icons/edi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2494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2784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798564" y="3337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9FEF00"/>
          </a:solidFill>
          <a:ln/>
        </p:spPr>
      </p:sp>
      <p:sp>
        <p:nvSpPr>
          <p:cNvPr id="23" name="Text 18"/>
          <p:cNvSpPr/>
          <p:nvPr/>
        </p:nvSpPr>
        <p:spPr>
          <a:xfrm>
            <a:off x="6798564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45936" y="3886200"/>
            <a:ext cx="21854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ressource existante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51976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26" name="Shape 21"/>
          <p:cNvSpPr/>
          <p:nvPr/>
        </p:nvSpPr>
        <p:spPr>
          <a:xfrm>
            <a:off x="9889236" y="2103120"/>
            <a:ext cx="640080" cy="640080"/>
          </a:xfrm>
          <a:prstGeom prst="ellipse">
            <a:avLst/>
          </a:prstGeom>
          <a:solidFill>
            <a:srgbClr val="1F3349"/>
          </a:solidFill>
          <a:ln/>
        </p:spPr>
      </p:sp>
      <p:pic>
        <p:nvPicPr>
          <p:cNvPr id="27" name="Image 3" descr="/home/claude/icons/tras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224942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43416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569196" y="3337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9FEF00"/>
          </a:solidFill>
          <a:ln/>
        </p:spPr>
      </p:sp>
      <p:sp>
        <p:nvSpPr>
          <p:cNvPr id="30" name="Text 24"/>
          <p:cNvSpPr/>
          <p:nvPr/>
        </p:nvSpPr>
        <p:spPr>
          <a:xfrm>
            <a:off x="9569196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116568" y="3886200"/>
            <a:ext cx="21854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ressource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/>
        </p:spPr>
      </p:sp>
      <p:sp>
        <p:nvSpPr>
          <p:cNvPr id="33" name="Text 27"/>
          <p:cNvSpPr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</a:t>
            </a:r>
            <a:pPr indent="0" marL="0">
              <a:buNone/>
            </a:pPr>
            <a:r>
              <a:rPr lang="en-US" sz="12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/api.php/city/London</a:t>
            </a:r>
            <a:pPr indent="0" marL="0">
              <a:buNone/>
            </a:pPr>
            <a:r>
              <a:rPr lang="en-US" sz="125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cible la ressource "London" dans la table "city"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 et sécurité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notions comptent en pentest web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73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6" name="Image 0" descr="/home/claude/icons/usershiel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cookie de session mal protégé peut être volé et réutilisé (session hijacking)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73B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136392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0" name="Image 1" descr="/home/claude/icons/bug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735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92608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endpoints d'API mal sécurisés permettent de modifier ou supprimer des données sans autorisation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73B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4233672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4" name="Image 2" descr="/home/claude/icons/lo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7083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02336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privilégier HTTPS pour chiffrer les échanges, surtout les identifiants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73B"/>
          </a:solidFill>
          <a:ln/>
        </p:spPr>
      </p:sp>
      <p:sp>
        <p:nvSpPr>
          <p:cNvPr id="17" name="Shape 12"/>
          <p:cNvSpPr/>
          <p:nvPr/>
        </p:nvSpPr>
        <p:spPr>
          <a:xfrm>
            <a:off x="868680" y="5330952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8" name="Image 3" descr="/home/claude/icons/searc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8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12064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requêtes via DevTools ou curl permet de comprendre le fonctionnement réel d'une application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Requests — Hack The Box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network_accen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92640" y="54864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22960" y="3246120"/>
            <a:ext cx="109728" cy="109728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3108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structure toute communication entre client et serveur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749040"/>
            <a:ext cx="109728" cy="109728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611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cookies maintiennent une session authentifiée entre les requêtes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109728" cy="109728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permet de reproduire et d'explorer ces requêtes manuellement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754880"/>
            <a:ext cx="109728" cy="109728"/>
          </a:xfrm>
          <a:prstGeom prst="ellipse">
            <a:avLst/>
          </a:prstGeom>
          <a:solidFill>
            <a:srgbClr val="9FEF0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6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REST applique le CRUD via GET / POST / PUT / DELETE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E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2026-08-09T17:36:04Z</dcterms:created>
  <dcterms:modified xsi:type="dcterms:W3CDTF">2026-08-09T17:36:04Z</dcterms:modified>
</cp:coreProperties>
</file>